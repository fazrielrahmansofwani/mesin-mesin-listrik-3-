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Space Grotesk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fa376be0-cded-4faa-a434-93576b6e804c.fntdata" /><ns0:Relationship Id="rIdFont19" Type="http://schemas.openxmlformats.org/officeDocument/2006/relationships/font" Target="fonts/d6722b8e-a3c3-4f57-9bd9-842e1d19e97b.fntdata" /><ns0:Relationship Id="rIdFont20" Type="http://schemas.openxmlformats.org/officeDocument/2006/relationships/font" Target="fonts/1d543704-c043-4cb5-81a5-92f96bed64db.fntdata" /><ns0:Relationship Id="rIdFont21" Type="http://schemas.openxmlformats.org/officeDocument/2006/relationships/font" Target="fonts/7ef7cefd-8a03-4024-b7f7-8c1d569f4ef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353050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0E15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82200" y="609600"/>
            <a:ext cx="1600200" cy="295275"/>
          </a:xfrm>
          <a:prstGeom prst="roundRect">
            <a:avLst>
              <a:gd name="adj" fmla="val 50000"/>
            </a:avLst>
          </a:prstGeom>
          <a:solidFill>
            <a:srgbClr val="10202F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642937"/>
            <a:ext cx="809625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86125" y="5629275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15550" y="666750"/>
            <a:ext cx="14287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Space Grotesk"/>
              </a:rPr>
              <a:t>PRESENTASI AKADEMIK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327969"/>
            <a:ext cx="11582400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1" sz="3450" i="0" u="none">
                <a:solidFill>
                  <a:srgbClr val="FFFFFF"/>
                </a:solidFill>
                <a:latin typeface="Space Grotesk"/>
              </a:rPr>
              <a:t>Konsep Dasar &amp; Analisis Operasional</a:t>
            </a:r>
            <a:r>
              <a:t>
</a:t>
            </a:r>
            <a:r>
              <a:rPr b="1" sz="3450" i="0" u="none">
                <a:solidFill>
                  <a:srgbClr val="06B6D4"/>
                </a:solidFill>
                <a:latin typeface="Space Grotesk"/>
              </a:rPr>
              <a:t>Rangkaian Star-Delta (Y-Δ) Motor 3 Fasa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44180"/>
            <a:ext cx="7715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Kajian mendalam mengenai prinsip kerja dasar, fenomena arus inrush, sekuensi kontaktor otomatis, dan aspek pemeliharaan industri.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681037"/>
            <a:ext cx="714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00000"/>
                </a:solidFill>
                <a:latin typeface="Space Grotesk"/>
              </a:rPr>
              <a:t>TRO-2026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3525" y="681037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TEKNOLOGI REKAYASA OTOMASI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0137" y="5610225"/>
            <a:ext cx="254793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825" i="0" u="none">
                <a:solidFill>
                  <a:srgbClr val="06B6D4"/>
                </a:solidFill>
                <a:latin typeface="Plus Jakarta Sans"/>
              </a:rPr>
              <a:t>PROGRAM STUDI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0137" y="5772150"/>
            <a:ext cx="2547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E2E8F0"/>
                </a:solidFill>
                <a:latin typeface="Plus Jakarta Sans"/>
              </a:rPr>
              <a:t>Teknologi Rekayasa Otomasi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5591175"/>
            <a:ext cx="2476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MAHASISWA / PENELITI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5753100"/>
            <a:ext cx="2476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Fazriel Rahman Sofwani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650" y="5591175"/>
            <a:ext cx="18573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NIM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6650" y="5753100"/>
            <a:ext cx="185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40040325620012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293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51025"/>
            <a:ext cx="3479750" cy="2470249"/>
          </a:xfrm>
          <a:prstGeom prst="roundRect">
            <a:avLst>
              <a:gd name="adj" fmla="val 462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251025"/>
            <a:ext cx="3479750" cy="2470249"/>
          </a:xfrm>
          <a:prstGeom prst="roundRect">
            <a:avLst>
              <a:gd name="adj" fmla="val 462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02500" y="2251025"/>
            <a:ext cx="3479750" cy="2470249"/>
          </a:xfrm>
          <a:prstGeom prst="roundRect">
            <a:avLst>
              <a:gd name="adj" fmla="val 462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991225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546300"/>
            <a:ext cx="23812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225" y="2546300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675" y="2546300"/>
            <a:ext cx="26670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6B6D4"/>
                </a:solidFill>
                <a:latin typeface="Plus Jakarta Sans"/>
              </a:rPr>
              <a:t>01 // FUNDAMENTAL DASAR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Apa Sebenarnya Sistem Star-Delta Itu?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5991225"/>
            <a:ext cx="110585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Catatan Mahasiswa: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Inti dari Star-Delta adalah mengakali tegangan sesaat di awal menggunakan trik rangkaian resistor/kontaktor agar motor tidak kaget.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2889200"/>
            <a:ext cx="389208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Pengertian Umum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3184475"/>
            <a:ext cx="3060650" cy="1279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Star-Delta (atau Bintang-Segitiga) adalah metode starting elektromekanik yang paling populer dipakai untuk menurunkan lonjakan arus start pada motor induksi 3 fasa berdaya besar sebelum motor mencapai kecepatan penuh.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3225" y="2889200"/>
            <a:ext cx="389208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Kenapa Harus Diatur?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3225" y="3184475"/>
            <a:ext cx="3060650" cy="1066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Bayangkan motor 3 fasa besar kalau langsung dihidupkan (Direct-On-Line), dia bakal narik arus listrik hingga 7 kali lipat dari normalnya. Hal ini bikin lampu kedip-kedip, breaker trip, dan lilitan motor gampang panas.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2889200"/>
            <a:ext cx="383232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Esensi Kerjanya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9675" y="3184475"/>
            <a:ext cx="3060650" cy="1066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Motor awalnya dinyalakan dalam konfigurasi "Star" (Y) supaya tegangan yang masuk ke lilitannya dikecilin jadi sekitar 58%, lalu setelah putaran motor kencang, sistem otomatis memindahkannya ke mode "Delta" (Δ).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388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52687"/>
            <a:ext cx="5229969" cy="2076450"/>
          </a:xfrm>
          <a:prstGeom prst="roundRect">
            <a:avLst>
              <a:gd name="adj" fmla="val 7339"/>
            </a:avLst>
          </a:prstGeom>
          <a:solidFill>
            <a:srgbClr val="19121C"/>
          </a:solidFill>
          <a:ln w="9525">
            <a:solidFill>
              <a:srgbClr val="391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44369" y="2057400"/>
            <a:ext cx="5438030" cy="8667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44369" y="3057525"/>
            <a:ext cx="5438030" cy="8667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44369" y="4057650"/>
            <a:ext cx="5438030" cy="8667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44369" y="2057400"/>
            <a:ext cx="38100" cy="8667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44369" y="3057525"/>
            <a:ext cx="38100" cy="8667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4369" y="4057650"/>
            <a:ext cx="38100" cy="866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38850"/>
            <a:ext cx="95250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150" y="5972175"/>
            <a:ext cx="106489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BD5E1"/>
                </a:solidFill>
                <a:latin typeface="Plus Jakarta Sans"/>
              </a:rPr>
              <a:t>Solusi Otomasi: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Di sinilah rangkaian Star-Delta bekerja sebagai penyelamat dengan meredam arus kejut tersebut secara cerdas.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EF4444"/>
                </a:solidFill>
                <a:latin typeface="Plus Jakarta Sans"/>
              </a:rPr>
              <a:t>02 // MASALAH FISIKA MOTOR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Kenapa Direct-On-Line (DOL) Sangat Berbahaya?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760" y="2767012"/>
            <a:ext cx="5751648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EF4444"/>
                </a:solidFill>
                <a:latin typeface="Space Grotesk"/>
              </a:rPr>
              <a:t>5–7x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760" y="3548062"/>
            <a:ext cx="57516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Lonjakan Arus Inrush Nominal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760" y="3843337"/>
            <a:ext cx="5751648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Saat posisi diam, GGL balik (Back-EMF) motor masih nol, membuat lilitan stator seakan-akan mengalami hubung singkat sesaat.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919" y="2228850"/>
            <a:ext cx="583808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Voltage Dip / Kedip Tegangan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919" y="2447925"/>
            <a:ext cx="51522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Bikin tegangan satu pabrik drop sesaat, alhasil PLC, sensor, atau komputer kontrol di sebelah bisa ikut reset sendiri.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3919" y="3228975"/>
            <a:ext cx="583808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Panas Berlebih pada Kawat Tembaga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919" y="3448050"/>
            <a:ext cx="51522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Efek Joule (I²R) bikin lilitan cepat gosong dan ngerusak lapisan email isolasi kalau motor sering di-start-stop.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3919" y="4229100"/>
            <a:ext cx="583808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Kejut Mekanis (Mechanical Stress)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3919" y="4448175"/>
            <a:ext cx="51522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Torsi hentakan yang ekstrem bikin gear, kopling, belt, dan poros rotor gampang patah atau aus lebih cepat.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24550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57400"/>
            <a:ext cx="4899868" cy="2952750"/>
          </a:xfrm>
          <a:prstGeom prst="roundRect">
            <a:avLst>
              <a:gd name="adj" fmla="val 387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2475" y="4600575"/>
            <a:ext cx="2152650" cy="266700"/>
          </a:xfrm>
          <a:prstGeom prst="roundRect">
            <a:avLst>
              <a:gd name="adj" fmla="val 21428"/>
            </a:avLst>
          </a:prstGeom>
          <a:solidFill>
            <a:srgbClr val="0B101B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14268" y="2407443"/>
            <a:ext cx="5768131" cy="1157287"/>
          </a:xfrm>
          <a:prstGeom prst="roundRect">
            <a:avLst>
              <a:gd name="adj" fmla="val 987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14268" y="3698081"/>
            <a:ext cx="2817465" cy="962025"/>
          </a:xfrm>
          <a:prstGeom prst="roundRect">
            <a:avLst>
              <a:gd name="adj" fmla="val 9900"/>
            </a:avLst>
          </a:prstGeom>
          <a:solidFill>
            <a:srgbClr val="0B1C28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65083" y="3698081"/>
            <a:ext cx="2817465" cy="962025"/>
          </a:xfrm>
          <a:prstGeom prst="roundRect">
            <a:avLst>
              <a:gd name="adj" fmla="val 9900"/>
            </a:avLst>
          </a:prstGeom>
          <a:solidFill>
            <a:srgbClr val="0B1D21"/>
          </a:solidFill>
          <a:ln w="9525">
            <a:solidFill>
              <a:srgbClr val="0C3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066925"/>
            <a:ext cx="4880818" cy="2933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" y="6038850"/>
            <a:ext cx="10687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Plus Jakarta Sans"/>
              </a:rPr>
              <a:t>Kelemahan Mode Ini: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Torsi motor ikut turun jadi 1/3-nya. Makanya motor tidak boleh start dalam keadaan memikul beban penuh (harus tanpa beban atau beban ringan).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6B6D4"/>
                </a:solidFill>
                <a:latin typeface="Plus Jakarta Sans"/>
              </a:rPr>
              <a:t>03 // FASE PERTAMA: STARTING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Cara Kerja Mode Star (Y) / Bintang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657725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8BDF8"/>
                </a:solidFill>
                <a:latin typeface="Space Grotesk"/>
              </a:rPr>
              <a:t>PANEL KONTROL STAR-DELTA INDUSTRI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4293" y="2607468"/>
            <a:ext cx="61777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B6D4"/>
                </a:solidFill>
                <a:latin typeface="Plus Jakarta Sans"/>
              </a:rPr>
              <a:t>Bagaimana Hubungannya?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4293" y="2807493"/>
            <a:ext cx="5463331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Pada awal tombol start ditekan, ujung-ujung kumparan motor (U2, V2, W2) disatukan oleh kontaktor Star membentuk titik netral (bintang). Sementara pangkalnya (U1, V1, W1) dialiri listrik 3 fasa.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5243" y="3879056"/>
            <a:ext cx="306939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Space Grotesk"/>
              </a:rPr>
              <a:t>58% (1/√3)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5243" y="4193381"/>
            <a:ext cx="306939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2E8F0"/>
                </a:solidFill>
                <a:latin typeface="Plus Jakarta Sans"/>
              </a:rPr>
              <a:t>Tegangan Lilitan Turun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5243" y="4355306"/>
            <a:ext cx="306939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"/>
              </a:rPr>
              <a:t>Dari 380V jala-jala jadi 220V per fasa.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6058" y="3879056"/>
            <a:ext cx="306939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0B981"/>
                </a:solidFill>
                <a:latin typeface="Space Grotesk"/>
              </a:rPr>
              <a:t>33% (1/3)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6058" y="4193381"/>
            <a:ext cx="306939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2E8F0"/>
                </a:solidFill>
                <a:latin typeface="Plus Jakarta Sans"/>
              </a:rPr>
              <a:t>Arus &amp; Torsi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6058" y="4355306"/>
            <a:ext cx="306939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"/>
              </a:rPr>
              <a:t>Arus anjlok drastis agar aman dari breaker.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67400"/>
            <a:ext cx="10972800" cy="457200"/>
          </a:xfrm>
          <a:prstGeom prst="roundRect">
            <a:avLst>
              <a:gd name="adj" fmla="val 16666"/>
            </a:avLst>
          </a:prstGeom>
          <a:solidFill>
            <a:srgbClr val="0B1D21"/>
          </a:solidFill>
          <a:ln w="9525">
            <a:solidFill>
              <a:srgbClr val="0C3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90787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490787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490787"/>
            <a:ext cx="3505200" cy="2038350"/>
          </a:xfrm>
          <a:prstGeom prst="roundRect">
            <a:avLst>
              <a:gd name="adj" fmla="val 560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10275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747962"/>
            <a:ext cx="361950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575" y="2747962"/>
            <a:ext cx="361950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375" y="2747962"/>
            <a:ext cx="361950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2843212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350" y="2843212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843212"/>
            <a:ext cx="1905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10B981"/>
                </a:solidFill>
                <a:latin typeface="Plus Jakarta Sans"/>
              </a:rPr>
              <a:t>04 // FASE KEDUA: RUNNING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6200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Transisi ke Mode Delta (Δ) / Segitiga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6019800"/>
            <a:ext cx="895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2E8F0"/>
                </a:solidFill>
                <a:latin typeface="Plus Jakarta Sans"/>
              </a:rPr>
              <a:t>Status Sistem:</a:t>
            </a:r>
            <a:r>
              <a:rPr b="0" sz="975" i="0" u="none">
                <a:solidFill>
                  <a:srgbClr val="E2E8F0"/>
                </a:solidFill>
                <a:latin typeface="Plus Jakarta Sans"/>
              </a:rPr>
              <a:t> Motor kini berjalan dalam performa puncak dengan efisiensi daya optimal dan aman bagi jaringan listrik pabrik.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3243262"/>
            <a:ext cx="392549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Waktu Pindah (Timer)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3529012"/>
            <a:ext cx="30861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Timer (TDR) menghitung waktu sekitar 5–7 detik sampai putaran motor mencapai kurang lebih 75%–80% dari RPM maksimalnya. Setelah itu, kontaktor Star mati dan kontaktor Delta masuk.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0575" y="3243262"/>
            <a:ext cx="392549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Tegangan Penuh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575" y="3529012"/>
            <a:ext cx="30861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Ujung kumparan dirangkai ulang membentuk loop segitiga (Delta). Sekarang setiap lilitan motor mendapat tegangan jala-jala penuh (380V), sehingga tenaga motor keluar secara maksimal.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3243262"/>
            <a:ext cx="385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Operasi Kontinu Pabrik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4375" y="3529012"/>
            <a:ext cx="30861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Kontak Utama (K1) dan Kontak Delta (K2) terus mengunci bersamaan. Motor siap dipakai bekerja memutar mesin produksi, kompresor, atau pompa air besar tanpa kendala.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67400"/>
            <a:ext cx="10972800" cy="457200"/>
          </a:xfrm>
          <a:prstGeom prst="roundRect">
            <a:avLst>
              <a:gd name="adj" fmla="val 16666"/>
            </a:avLst>
          </a:prstGeom>
          <a:solidFill>
            <a:srgbClr val="1D131C"/>
          </a:solidFill>
          <a:ln w="9525">
            <a:solidFill>
              <a:srgbClr val="391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59447"/>
            <a:ext cx="2500312" cy="1091505"/>
          </a:xfrm>
          <a:prstGeom prst="roundRect">
            <a:avLst>
              <a:gd name="adj" fmla="val 87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3762" y="2959447"/>
            <a:ext cx="2500312" cy="1091505"/>
          </a:xfrm>
          <a:prstGeom prst="roundRect">
            <a:avLst>
              <a:gd name="adj" fmla="val 87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57925" y="2959447"/>
            <a:ext cx="2500312" cy="1091505"/>
          </a:xfrm>
          <a:prstGeom prst="roundRect">
            <a:avLst>
              <a:gd name="adj" fmla="val 87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82087" y="2959447"/>
            <a:ext cx="2500312" cy="1091505"/>
          </a:xfrm>
          <a:prstGeom prst="roundRect">
            <a:avLst>
              <a:gd name="adj" fmla="val 87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959447"/>
            <a:ext cx="2500312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33762" y="2959447"/>
            <a:ext cx="2500312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7925" y="2959447"/>
            <a:ext cx="2500312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82087" y="2959447"/>
            <a:ext cx="2500312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1027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212" y="3433762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75" y="3433762"/>
            <a:ext cx="952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537" y="3433762"/>
            <a:ext cx="9525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6B6D4"/>
                </a:solidFill>
                <a:latin typeface="Plus Jakarta Sans"/>
              </a:rPr>
              <a:t>05 // SEKUEN WIRING &amp; KONTROL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Urutan Kerja Kontak &amp; Aturan Keselamatan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425" y="6019800"/>
            <a:ext cx="11077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BD5E1"/>
                </a:solidFill>
                <a:latin typeface="Plus Jakarta Sans"/>
              </a:rPr>
              <a:t>Aturan Interlock Wajib: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Kontak Delta (K2) dan Kontak Star (K3) harus dipasang Interlock Elektrikal (NC) &amp; Mekanikal. Kalau keduanya nyala bareng, terjadi korsleting 3 fasa meledak!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3159472"/>
            <a:ext cx="269676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6B6D4"/>
                </a:solidFill>
                <a:latin typeface="Space Grotesk"/>
              </a:rPr>
              <a:t>TAHAP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3349972"/>
            <a:ext cx="28316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Tombol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3559522"/>
            <a:ext cx="225266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Kontak Utama (K1) &amp; Kontak Star (K3) langsung aktif bersamaan.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212" y="3159472"/>
            <a:ext cx="269676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6B6D4"/>
                </a:solidFill>
                <a:latin typeface="Space Grotesk"/>
              </a:rPr>
              <a:t>TAHAP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5212" y="3349972"/>
            <a:ext cx="28316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Hitung Timer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5212" y="3559522"/>
            <a:ext cx="225266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TDR menghitung durasi transisi sementara motor berakselerasi.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3159472"/>
            <a:ext cx="269676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59E0B"/>
                </a:solidFill>
                <a:latin typeface="Space Grotesk"/>
              </a:rPr>
              <a:t>TAHAP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3349972"/>
            <a:ext cx="28316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Jeda Mati (Off)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375" y="3559522"/>
            <a:ext cx="225266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K3 terputus sesaat untuk mencegah benturan fasa listrik.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537" y="3159472"/>
            <a:ext cx="269676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0B981"/>
                </a:solidFill>
                <a:latin typeface="Space Grotesk"/>
              </a:rPr>
              <a:t>TAHAP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537" y="3349972"/>
            <a:ext cx="28316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Delta Masuk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537" y="3559522"/>
            <a:ext cx="225266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Kontak Delta (K2) mengunci permanen menggantikan K3.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38676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46027"/>
            <a:ext cx="2600325" cy="1489620"/>
          </a:xfrm>
          <a:prstGeom prst="roundRect">
            <a:avLst>
              <a:gd name="adj" fmla="val 7673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746027"/>
            <a:ext cx="2600325" cy="1489620"/>
          </a:xfrm>
          <a:prstGeom prst="roundRect">
            <a:avLst>
              <a:gd name="adj" fmla="val 7673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746027"/>
            <a:ext cx="2600325" cy="1489620"/>
          </a:xfrm>
          <a:prstGeom prst="roundRect">
            <a:avLst>
              <a:gd name="adj" fmla="val 7673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746027"/>
            <a:ext cx="2600325" cy="1489620"/>
          </a:xfrm>
          <a:prstGeom prst="roundRect">
            <a:avLst>
              <a:gd name="adj" fmla="val 7673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38701"/>
            <a:ext cx="95250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3003202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3003202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3003202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1150" y="3003202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9150" y="5972026"/>
            <a:ext cx="106489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BD5E1"/>
                </a:solidFill>
                <a:latin typeface="Plus Jakarta Sans"/>
              </a:rPr>
              <a:t>Tips Perancangan: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Ukuran kontaktor K1 dan K2 cukup 58% dari arus total motor, sementara K3 (Star) bisa memakai kapasitas lebih kecil (~33%) karena hanya bekerja sesaat.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6B6D4"/>
                </a:solidFill>
                <a:latin typeface="Plus Jakarta Sans"/>
              </a:rPr>
              <a:t>06 // HARDWARE &amp; KOMPONEN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Peralatan Utama dalam Panel Star-Delta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3298477"/>
            <a:ext cx="283785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3 Buah Kontaktor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3536602"/>
            <a:ext cx="22574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• K1 (Main / Utama)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Plus Jakarta Sans"/>
              </a:rPr>
              <a:t> • K2 (Delta / Segitiga)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Plus Jakarta Sans"/>
              </a:rPr>
              <a:t> • K3 (Star / Bintang)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3298477"/>
            <a:ext cx="283785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Timer Relay (TDR)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3536602"/>
            <a:ext cx="22574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Alat pengatur waktu tunda perpindahan kontak dari Star ke Delta secara otomatis dengan jeda aman.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298477"/>
            <a:ext cx="283785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Thermal Overload (TOR)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536602"/>
            <a:ext cx="22574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Pengaman bimetal untuk memutus arus jika motor mengalami beban macet berlebih (overload).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50" y="3298477"/>
            <a:ext cx="283785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MCB &amp; Push Button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1150" y="3536602"/>
            <a:ext cx="22574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MCB 3-fasa/1-fasa, tombol Start/Stop, serta lampu indikator panel untuk memantau status operasional.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8645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57450"/>
            <a:ext cx="5334000" cy="211455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457450"/>
            <a:ext cx="5334000" cy="211455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562475"/>
            <a:ext cx="5334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457450"/>
            <a:ext cx="5334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57450"/>
            <a:ext cx="9525" cy="21145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34075" y="2457450"/>
            <a:ext cx="9525" cy="21145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825" y="3800475"/>
            <a:ext cx="4781550" cy="495300"/>
          </a:xfrm>
          <a:prstGeom prst="roundRect">
            <a:avLst>
              <a:gd name="adj" fmla="val 11538"/>
            </a:avLst>
          </a:prstGeom>
          <a:solidFill>
            <a:srgbClr val="251C2D"/>
          </a:solidFill>
          <a:ln w="9525">
            <a:solidFill>
              <a:srgbClr val="3C2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4562475"/>
            <a:ext cx="5334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400" y="2457450"/>
            <a:ext cx="5334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400" y="2457450"/>
            <a:ext cx="9525" cy="21145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2457450"/>
            <a:ext cx="9525" cy="21145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24625" y="3800475"/>
            <a:ext cx="4781550" cy="495300"/>
          </a:xfrm>
          <a:prstGeom prst="roundRect">
            <a:avLst>
              <a:gd name="adj" fmla="val 11538"/>
            </a:avLst>
          </a:prstGeom>
          <a:solidFill>
            <a:srgbClr val="0F2733"/>
          </a:solidFill>
          <a:ln w="9525">
            <a:solidFill>
              <a:srgbClr val="0F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29325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6B6D4"/>
                </a:solidFill>
                <a:latin typeface="Plus Jakarta Sans"/>
              </a:rPr>
              <a:t>07 // SYARAT TEKNIS &amp; PERINGATAN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Syarat Mutlak Motor Bisa Dipakai Star-Delta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" y="6029325"/>
            <a:ext cx="9310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BD5E1"/>
                </a:solidFill>
                <a:latin typeface="Plus Jakarta Sans"/>
              </a:rPr>
              <a:t>Pengecekan Akhir: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Selalu gunakan multimeter untuk memastikan hambatan antar kumparan seimbang sebelum panel di-energize.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762250"/>
            <a:ext cx="5976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6B6D4"/>
                </a:solidFill>
                <a:latin typeface="Space Grotesk"/>
              </a:rPr>
              <a:t>ATURAN NAMEPLATE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981325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Wajib Spesifikasi 380V / 660V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295650"/>
            <a:ext cx="48768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Untuk jaringan listrik PLN standar (380V), motor harus bertuliskan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Delta 380V / Star 660V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pada plat namanya.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3895725"/>
            <a:ext cx="4610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CA5A5"/>
                </a:solidFill>
                <a:latin typeface="Plus Jakarta Sans"/>
              </a:rPr>
              <a:t>Peringatan Fatal:</a:t>
            </a:r>
            <a:r>
              <a:rPr b="0" sz="900" i="0" u="none">
                <a:solidFill>
                  <a:srgbClr val="FCA5A5"/>
                </a:solidFill>
                <a:latin typeface="Plus Jakarta Sans"/>
              </a:rPr>
              <a:t> Motor bertuliskan 220V/380V tidak boleh dipasang Delta di jaringan 380V karena lilitannya bakal langsung terbakar!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2762250"/>
            <a:ext cx="5667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0B981"/>
                </a:solidFill>
                <a:latin typeface="Space Grotesk"/>
              </a:rPr>
              <a:t>JUMLAH TERMINAL 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2981325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Wajib Memiliki 6 Buah 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3295650"/>
            <a:ext cx="48768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Terminal motor harus terpisah menjadi 6 baut: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U1, V1, W1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dan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U2, V2, W2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agar bisa diatur eksternal lewat panel.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7975" y="3895725"/>
            <a:ext cx="4610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EE7B7"/>
                </a:solidFill>
                <a:latin typeface="Plus Jakarta Sans"/>
              </a:rPr>
              <a:t>Catatan Lapangan:</a:t>
            </a:r>
            <a:r>
              <a:rPr b="0" sz="900" i="0" u="none">
                <a:solidFill>
                  <a:srgbClr val="6EE7B7"/>
                </a:solidFill>
                <a:latin typeface="Plus Jakarta Sans"/>
              </a:rPr>
              <a:t> Kalau motor hanya punya 3 kabel keluar, artinya sambungan internal sudah permanen dan tidak bisa memakai Star-Delta.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388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28900"/>
            <a:ext cx="10972800" cy="172402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628900"/>
          <a:ext cx="10963273" cy="17240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86198"/>
                <a:gridCol w="2504182"/>
                <a:gridCol w="2926407"/>
                <a:gridCol w="2846486"/>
              </a:tblGrid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Space Grotesk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Space Grotesk"/>
                        </a:rPr>
                        <a:t>DIRECT-ON-LINE (DOL)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6B6D4"/>
                          </a:solidFill>
                          <a:latin typeface="Space Grotesk"/>
                        </a:rPr>
                        <a:t>STAR-DELTA (Y-Δ)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Space Grotesk"/>
                        </a:rPr>
                        <a:t>VFD / SOFT STARTER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Arus Start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Sangat Tinggi (5-7x)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0B981"/>
                          </a:solidFill>
                          <a:latin typeface="Plus Jakarta Sans"/>
                        </a:rPr>
                        <a:t>Rendah (~1/3 dari DOL)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0B981"/>
                          </a:solidFill>
                          <a:latin typeface="Plus Jakarta Sans"/>
                        </a:rPr>
                        <a:t>Sangat Terkontrol Presisi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Biaya Pembuatan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Paling Murah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6B6D4"/>
                          </a:solidFill>
                          <a:latin typeface="Plus Jakarta Sans"/>
                        </a:rPr>
                        <a:t>Sangat Ekonomis &amp; Efektif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Mahal (Modul Elektronik)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92C"/>
                    </a:solidFill>
                  </a:tcPr>
                </a:tc>
              </a:tr>
              <a:tr h="431007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Perawatan &amp; Sparepart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Sangat Sederhana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Mudah (Kontaktor &amp; Timer)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Butuh Ahli Elektronika/PLC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9150" y="5972175"/>
            <a:ext cx="106489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BD5E1"/>
                </a:solidFill>
                <a:latin typeface="Plus Jakarta Sans"/>
              </a:rPr>
              <a:t>Kesimpulan Akhir: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Star-Delta tetap menjadi standar industri paling seimbang antara efisiensi biaya dan keandalan perlindungan motor.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6B6D4"/>
                </a:solidFill>
                <a:latin typeface="Plus Jakarta Sans"/>
              </a:rPr>
              <a:t>08 // MATRIX PERBANDINGAN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Perbandingan DOL, Star-Delta, dan VFD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00612" y="2030759"/>
            <a:ext cx="2390775" cy="285750"/>
          </a:xfrm>
          <a:prstGeom prst="roundRect">
            <a:avLst>
              <a:gd name="adj" fmla="val 50000"/>
            </a:avLst>
          </a:prstGeom>
          <a:solidFill>
            <a:srgbClr val="0B202C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81287" y="3969841"/>
            <a:ext cx="6829425" cy="857250"/>
          </a:xfrm>
          <a:prstGeom prst="roundRect">
            <a:avLst>
              <a:gd name="adj" fmla="val 13333"/>
            </a:avLst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81287" y="4817566"/>
            <a:ext cx="68294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81287" y="3969841"/>
            <a:ext cx="6829425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81287" y="3969841"/>
            <a:ext cx="9525" cy="8572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01187" y="3969841"/>
            <a:ext cx="9525" cy="8572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165" y="2087909"/>
            <a:ext cx="268366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6B6D4"/>
                </a:solidFill>
                <a:latin typeface="Space Grotesk"/>
              </a:rPr>
              <a:t>SESI DISKUSI &amp; TANYA JAWAB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5475" y="2468909"/>
            <a:ext cx="840105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Space Grotesk"/>
              </a:rPr>
              <a:t>Terima Kasih Atas Perhatian 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01280"/>
            <a:ext cx="7620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Silakan jika ada rekan-rekan atau dosen yang ingin bertanya seputar prinsip dasar, rangkaian kontrol, maupun perhitungan Star-Delta.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1812" y="4227016"/>
            <a:ext cx="2155031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MAHASISWA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1812" y="4388941"/>
            <a:ext cx="2155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Fazriel Rahman Sofwani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3037" y="4227016"/>
            <a:ext cx="1631156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NIM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3037" y="4388941"/>
            <a:ext cx="1631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40040325620012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5162" y="4227016"/>
            <a:ext cx="2631281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6B6D4"/>
                </a:solidFill>
                <a:latin typeface="Plus Jakarta Sans"/>
              </a:rPr>
              <a:t>PROGRAM STUDI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5162" y="4388941"/>
            <a:ext cx="2631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Teknologi Rekayasa Otomasi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1F5F9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941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1F5F9"/>
                </a:solidFill>
                <a:latin typeface="Plus Jakarta Sans"/>
              </a:rPr>
              <a:t>http://googleusercontent.com/image_collection/image_retrieval/7791975057640923671_0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166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1F5F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image_retrieval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